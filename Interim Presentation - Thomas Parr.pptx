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0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>
        <p:scale>
          <a:sx n="129" d="100"/>
          <a:sy n="129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A2E82-D0E7-1D4E-B352-57D47B507EC2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8D2C7-3F16-244F-916B-EC1A8A8946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2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8D2C7-3F16-244F-916B-EC1A8A89462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07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D332-2B10-9693-0828-1A0F08512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406B1-0DB7-1FAD-9F4D-96DEDA6AC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43071-FC97-7876-39A3-CA4DCC83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6D9F-5A82-9F50-24FB-FF2DBFD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D0720-D23A-A7A8-C9E8-C0AC0D69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64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9D03-CD1A-6E8F-D1C5-22510096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17F74-4B8E-9638-A32A-C8C159B65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23A01-49FD-169F-C173-A25E01F9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F72D6-BD18-1F85-DB44-77F185EF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69893-F05E-DDE7-A731-C6121FAA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14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BC18-B234-6DA6-6A45-040C39F9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6979-C89F-8830-D66B-CC026A061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68DAC-E833-9D0E-EAEA-3DF6729B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BA892-5051-DFD0-C38D-CE469257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DB095-83C1-849E-B59F-1D85D6C5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77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17CA-5003-5634-2BC0-9BAAF278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EE79-FBB7-1FDF-E69F-325247BB3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E1C31-AF31-252A-EF1B-6D3DBD294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6A3A7-9AE0-4511-AC09-634215EB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EDE72-5AD4-9730-F6F9-21CCD163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4A094-5E2C-F7F8-8E27-6D8518E5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472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005B-40CC-7C48-541E-02DE0E952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50FE7-116B-74A7-1750-1048B5170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417A7-795F-DC3D-F21C-F8B5D9426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0900A-08CF-90FF-87D5-E5F55A8F5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ECB85-E976-1FAA-55B5-FE02EF1BF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6D170-5BF5-047E-3179-46409F22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1E4ED-34D6-96DC-0679-C44D9100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7165-DC8E-36C3-9694-AF3EF2E0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94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31E5-80CB-6D50-01CC-A8C8C0FA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C4879-D798-6EE7-DCAD-8BF517AA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F79FB-E528-4DB8-1435-3275A865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B4B65-BA91-022B-2B0B-360D7C70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37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ED0D3-0746-495D-DBCD-A3AD6238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ADA6A-B8E7-2BB0-9A1E-AD4D5847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9C991-3438-102B-5B91-AD05A3B5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30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88EB-6E9C-578B-CE79-E4CC6676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C5039-7533-42CC-667E-5BEAF1E3B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047C-9E99-74BE-3FF9-AFCBC0454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E3ECD-A09D-3A63-7711-46109D79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FC0C4-E974-545F-F82C-23057913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91A79-C97C-308D-C1AF-8364566C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88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1C68-D1CF-63B4-AEDB-E98E18BE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0DAD4-AB4E-8344-5DC2-DB9A2D2CB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56E08-93C9-948D-F868-C3562BB86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73602-BDCC-72DC-51C0-06E9C17B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FB21F-83F5-0698-893A-6FC0F979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02C47-C4DC-EEA3-1FF5-45DCC2C5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03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9A44-3365-2A50-5BA2-1FC67A4E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6F4D8-119D-46EF-5261-996C5F6AD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09C74-EC5F-0E53-D2C4-A1EA710C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98A7-AF95-FC31-CCF6-3EB37485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5641C-29B0-CD23-40A1-D3B81946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81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3A2F51-F91B-3106-61FE-FE7EC09A2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E1980-348C-0867-03D4-F5241D620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7DEF9-7406-0A3A-600D-9DCBBD4A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70A2B-C61A-8BCE-7ECB-4D93F60E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E905D-D1C2-8840-A7CD-52159EDF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779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AF3EF-DF57-20CE-1E09-52F1273D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DDE5C-8DC9-FC8C-3519-4C604157D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F0E9A-EC74-A2E6-AA3D-B90CA4827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2CC5D-6F9F-1E48-A373-BF1213A5DCA8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7699F-CABF-A092-C2F9-680CDB9B2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FFF40-D554-76B7-7B9A-2D5FCC8E7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1E9CF-9DF6-534E-B021-AEB4C8BF9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8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cs.sfu.ca/~ashriram/Courses/CS295/assets/notebooks/RISCV/RISCV_CARD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A3BC-7DEB-217E-B8E0-69F33346CA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Advanced Computer Architecture - Interim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3B8F8-5DC6-AB57-8B85-4934A394D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Thomas Parr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855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B691-0C94-E95C-94E1-7DE5F529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Architecture Diagram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AD937D-4F6A-B800-42EE-ABEDD3059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1718"/>
            <a:ext cx="10515600" cy="4199152"/>
          </a:xfrm>
          <a:ln w="3810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9150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03DA-E04E-035B-F96E-415FB692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Instruction Set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03CA-4CB7-BE18-7C40-05093D3B0B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Current State</a:t>
            </a:r>
          </a:p>
          <a:p>
            <a:r>
              <a:rPr lang="en-GB" dirty="0"/>
              <a:t>Supports the RISCV base ISA (RV32I), except for fencing and environment calls and breaks.</a:t>
            </a:r>
          </a:p>
          <a:p>
            <a:pPr marL="0" indent="0">
              <a:buNone/>
            </a:pPr>
            <a:r>
              <a:rPr lang="en-GB" b="1" dirty="0"/>
              <a:t>Main Goals</a:t>
            </a:r>
          </a:p>
          <a:p>
            <a:r>
              <a:rPr lang="en-GB" dirty="0"/>
              <a:t>Add support for RV32M extension for integer multiplication and division</a:t>
            </a:r>
          </a:p>
          <a:p>
            <a:r>
              <a:rPr lang="en-GB" dirty="0"/>
              <a:t>Add support for RV32F extension for floating point operations</a:t>
            </a:r>
          </a:p>
          <a:p>
            <a:pPr marL="0" indent="0">
              <a:buNone/>
            </a:pPr>
            <a:r>
              <a:rPr lang="en-GB" b="1" dirty="0"/>
              <a:t>Stretch Goals</a:t>
            </a:r>
          </a:p>
          <a:p>
            <a:r>
              <a:rPr lang="en-GB" dirty="0"/>
              <a:t>Support for other extensions, such as the RV32F floating point or the RV32V vector extensions</a:t>
            </a:r>
          </a:p>
        </p:txBody>
      </p:sp>
      <p:pic>
        <p:nvPicPr>
          <p:cNvPr id="6" name="Content Placeholder 5" descr="Overview of all the instructions in the RV32I ISA, and the instruction formats.">
            <a:extLst>
              <a:ext uri="{FF2B5EF4-FFF2-40B4-BE49-F238E27FC236}">
                <a16:creationId xmlns:a16="http://schemas.microsoft.com/office/drawing/2014/main" id="{13AAEC9E-0153-E931-6504-82D9A8DA10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72849" y="1500809"/>
            <a:ext cx="4908334" cy="5193528"/>
          </a:xfrm>
          <a:ln w="38100">
            <a:solidFill>
              <a:schemeClr val="accent2">
                <a:lumMod val="7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D3E25A-E3CA-217E-0DD3-A82668544C56}"/>
              </a:ext>
            </a:extLst>
          </p:cNvPr>
          <p:cNvSpPr txBox="1"/>
          <p:nvPr/>
        </p:nvSpPr>
        <p:spPr>
          <a:xfrm>
            <a:off x="7490791" y="557827"/>
            <a:ext cx="4552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hlinkClick r:id="rId4"/>
              </a:rPr>
              <a:t>https://www.cs.sfu.ca/~ashriram/Courses/CS295/assets/notebooks/RISCV/RISCV_CARD.pdf</a:t>
            </a:r>
            <a:endParaRPr lang="en-GB" sz="1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61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C3CA-B428-B57F-D5D7-777DBB6C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A353-BF83-5041-C74A-EFF52775D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Current State</a:t>
            </a:r>
          </a:p>
          <a:p>
            <a:r>
              <a:rPr lang="en-GB" dirty="0"/>
              <a:t>Scalar, non-pipelined processor</a:t>
            </a:r>
          </a:p>
          <a:p>
            <a:r>
              <a:rPr lang="en-GB" dirty="0"/>
              <a:t>Von-Neumann Architecture</a:t>
            </a:r>
          </a:p>
          <a:p>
            <a:pPr marL="0" indent="0">
              <a:buNone/>
            </a:pPr>
            <a:r>
              <a:rPr lang="en-GB" b="1" dirty="0"/>
              <a:t>Main Goals</a:t>
            </a:r>
          </a:p>
          <a:p>
            <a:r>
              <a:rPr lang="en-GB" dirty="0"/>
              <a:t>Pipelining</a:t>
            </a:r>
          </a:p>
          <a:p>
            <a:r>
              <a:rPr lang="en-GB" dirty="0"/>
              <a:t>Superscalar execution</a:t>
            </a:r>
          </a:p>
          <a:p>
            <a:pPr lvl="1"/>
            <a:r>
              <a:rPr lang="en-GB" dirty="0"/>
              <a:t>Multiple duplicate execution units.</a:t>
            </a:r>
          </a:p>
          <a:p>
            <a:pPr lvl="1"/>
            <a:r>
              <a:rPr lang="en-GB" dirty="0"/>
              <a:t>Splitting different operations into different execution units</a:t>
            </a:r>
          </a:p>
          <a:p>
            <a:r>
              <a:rPr lang="en-GB" dirty="0"/>
              <a:t>Basic static branch prediction (always take backwards branches)</a:t>
            </a:r>
          </a:p>
          <a:p>
            <a:r>
              <a:rPr lang="en-GB" dirty="0"/>
              <a:t>Out-of-order execution </a:t>
            </a:r>
          </a:p>
          <a:p>
            <a:pPr lvl="1"/>
            <a:r>
              <a:rPr lang="en-GB" dirty="0"/>
              <a:t>Tomasulo’s algorithm</a:t>
            </a:r>
          </a:p>
          <a:p>
            <a:pPr lvl="1"/>
            <a:r>
              <a:rPr lang="en-GB" dirty="0"/>
              <a:t>Register renaming</a:t>
            </a:r>
          </a:p>
          <a:p>
            <a:pPr lvl="1"/>
            <a:r>
              <a:rPr lang="en-GB" dirty="0"/>
              <a:t>Reservation stations</a:t>
            </a:r>
          </a:p>
          <a:p>
            <a:r>
              <a:rPr lang="en-GB" dirty="0"/>
              <a:t>Multiply ISA extension</a:t>
            </a:r>
          </a:p>
          <a:p>
            <a:r>
              <a:rPr lang="en-GB" dirty="0"/>
              <a:t>Floating point extension</a:t>
            </a:r>
          </a:p>
          <a:p>
            <a:pPr marL="0" indent="0">
              <a:buNone/>
            </a:pPr>
            <a:r>
              <a:rPr lang="en-GB" b="1" dirty="0"/>
              <a:t>Stretch Goals</a:t>
            </a:r>
          </a:p>
          <a:p>
            <a:r>
              <a:rPr lang="en-GB" dirty="0"/>
              <a:t>More advanced dynamic branch prediction (2-bit counter)</a:t>
            </a:r>
          </a:p>
          <a:p>
            <a:r>
              <a:rPr lang="en-GB" dirty="0"/>
              <a:t>Vector ISA extensions</a:t>
            </a:r>
          </a:p>
        </p:txBody>
      </p:sp>
    </p:spTree>
    <p:extLst>
      <p:ext uri="{BB962C8B-B14F-4D97-AF65-F5344CB8AC3E}">
        <p14:creationId xmlns:p14="http://schemas.microsoft.com/office/powerpoint/2010/main" val="109544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26DA-EC13-2EB2-6023-B087832C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B42CB-16E2-E059-22C2-78183A047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Text based debugger with:</a:t>
            </a:r>
          </a:p>
          <a:p>
            <a:pPr lvl="1"/>
            <a:r>
              <a:rPr lang="en-GB" dirty="0"/>
              <a:t>Stepping through cycles</a:t>
            </a:r>
          </a:p>
          <a:p>
            <a:pPr lvl="1"/>
            <a:r>
              <a:rPr lang="en-GB" dirty="0"/>
              <a:t>Breakpoints for instructions</a:t>
            </a:r>
          </a:p>
          <a:p>
            <a:pPr lvl="1"/>
            <a:r>
              <a:rPr lang="en-GB" dirty="0"/>
              <a:t>Printing state of all processor components</a:t>
            </a:r>
          </a:p>
          <a:p>
            <a:pPr lvl="1"/>
            <a:r>
              <a:rPr lang="en-GB" dirty="0"/>
              <a:t>Using memory location 0 for an “output” from the program</a:t>
            </a:r>
          </a:p>
          <a:p>
            <a:pPr lvl="1"/>
            <a:r>
              <a:rPr lang="en-GB" dirty="0"/>
              <a:t>Using a jump instruction to itself to stop simulation of a program</a:t>
            </a:r>
          </a:p>
          <a:p>
            <a:r>
              <a:rPr lang="en-GB" dirty="0"/>
              <a:t>Loading programs from a binary into the memory</a:t>
            </a:r>
          </a:p>
          <a:p>
            <a:pPr marL="0" indent="0">
              <a:buNone/>
            </a:pPr>
            <a:r>
              <a:rPr lang="en-GB" b="1" dirty="0"/>
              <a:t>Possible Improvements</a:t>
            </a:r>
          </a:p>
          <a:p>
            <a:r>
              <a:rPr lang="en-GB" dirty="0"/>
              <a:t>GUI for:</a:t>
            </a:r>
          </a:p>
          <a:p>
            <a:pPr lvl="1"/>
            <a:r>
              <a:rPr lang="en-GB" dirty="0"/>
              <a:t>Surfacing state of different units the processor (inputs and outputs, and current state for registers and memory)</a:t>
            </a:r>
          </a:p>
          <a:p>
            <a:pPr lvl="1"/>
            <a:r>
              <a:rPr lang="en-GB" dirty="0"/>
              <a:t>Input and output to running programs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20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624CC-86B3-D472-8F3E-6D2BF7CB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425B-14A2-048E-7674-52375F26E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52461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Compilation for C code</a:t>
            </a:r>
          </a:p>
          <a:p>
            <a:pPr lvl="1"/>
            <a:r>
              <a:rPr lang="en-GB" dirty="0"/>
              <a:t>Uses Docker container with RISCV GCC cross-compiler</a:t>
            </a:r>
          </a:p>
          <a:p>
            <a:pPr lvl="1"/>
            <a:r>
              <a:rPr lang="en-GB" dirty="0"/>
              <a:t>Linker script to link all C files and ensure startup program is run first, followed by main</a:t>
            </a:r>
          </a:p>
          <a:p>
            <a:pPr lvl="1"/>
            <a:r>
              <a:rPr lang="en-GB" dirty="0"/>
              <a:t>Start-up / shutdown script to initialise the stack pointer at start and stop execution at end</a:t>
            </a:r>
          </a:p>
          <a:p>
            <a:pPr lvl="1"/>
            <a:r>
              <a:rPr lang="en-GB" dirty="0"/>
              <a:t>Shell scripts containing pre-defined compiler options for compilation</a:t>
            </a:r>
          </a:p>
          <a:p>
            <a:pPr lvl="1"/>
            <a:r>
              <a:rPr lang="en-GB" dirty="0"/>
              <a:t>Currently does not include:</a:t>
            </a:r>
          </a:p>
          <a:p>
            <a:pPr lvl="2"/>
            <a:r>
              <a:rPr lang="en-GB" dirty="0"/>
              <a:t>Std library</a:t>
            </a:r>
          </a:p>
          <a:p>
            <a:pPr lvl="2"/>
            <a:r>
              <a:rPr lang="en-GB" dirty="0"/>
              <a:t>Multiplication/division</a:t>
            </a:r>
          </a:p>
          <a:p>
            <a:pPr lvl="2"/>
            <a:r>
              <a:rPr lang="en-GB" dirty="0"/>
              <a:t>Floating point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CDD68-81AF-CBBE-97DD-904FD85ED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7604" y="1825625"/>
            <a:ext cx="2156792" cy="4351338"/>
          </a:xfrm>
          <a:noFill/>
        </p:spPr>
        <p:txBody>
          <a:bodyPr numCol="1">
            <a:normAutofit fontScale="77500" lnSpcReduction="20000"/>
          </a:bodyPr>
          <a:lstStyle/>
          <a:p>
            <a:pPr marL="0" indent="0">
              <a:buNone/>
            </a:pPr>
            <a:r>
              <a:rPr lang="en-GB" sz="1500" dirty="0">
                <a:effectLst/>
                <a:latin typeface="Andale Mono" panose="020B0509000000000004" pitchFamily="49" charset="0"/>
              </a:rPr>
              <a:t>.</a:t>
            </a:r>
            <a:r>
              <a:rPr lang="en-GB" sz="1500" dirty="0" err="1">
                <a:effectLst/>
                <a:latin typeface="Andale Mono" panose="020B0509000000000004" pitchFamily="49" charset="0"/>
              </a:rPr>
              <a:t>globl</a:t>
            </a:r>
            <a:r>
              <a:rPr lang="en-GB" sz="1500" dirty="0">
                <a:effectLst/>
                <a:latin typeface="Andale Mono" panose="020B0509000000000004" pitchFamily="49" charset="0"/>
              </a:rPr>
              <a:t> _start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.section .</a:t>
            </a:r>
            <a:r>
              <a:rPr lang="en-GB" sz="1500" dirty="0" err="1">
                <a:effectLst/>
                <a:latin typeface="Andale Mono" panose="020B0509000000000004" pitchFamily="49" charset="0"/>
              </a:rPr>
              <a:t>text.startup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_start: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# Global pointer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.option push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.option </a:t>
            </a:r>
            <a:r>
              <a:rPr lang="en-GB" sz="1500" dirty="0" err="1">
                <a:effectLst/>
                <a:latin typeface="Andale Mono" panose="020B0509000000000004" pitchFamily="49" charset="0"/>
              </a:rPr>
              <a:t>norelax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la      x3, __</a:t>
            </a:r>
            <a:r>
              <a:rPr lang="en-GB" sz="1500" dirty="0" err="1">
                <a:effectLst/>
                <a:latin typeface="Andale Mono" panose="020B0509000000000004" pitchFamily="49" charset="0"/>
              </a:rPr>
              <a:t>global_pointer</a:t>
            </a:r>
            <a:r>
              <a:rPr lang="en-GB" sz="1500" dirty="0">
                <a:effectLst/>
                <a:latin typeface="Andale Mono" panose="020B0509000000000004" pitchFamily="49" charset="0"/>
              </a:rPr>
              <a:t>$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.option pop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# Stack pointer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la      x2, __</a:t>
            </a:r>
            <a:r>
              <a:rPr lang="en-GB" sz="1500" dirty="0" err="1">
                <a:effectLst/>
                <a:latin typeface="Andale Mono" panose="020B0509000000000004" pitchFamily="49" charset="0"/>
              </a:rPr>
              <a:t>stack_top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# Reset vector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x4,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x5,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x6,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x7,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x8,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x9,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x10,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x11,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x12,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x13,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x14,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li      x15, 0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call main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_</a:t>
            </a:r>
            <a:r>
              <a:rPr lang="en-GB" sz="1500" dirty="0" err="1">
                <a:effectLst/>
                <a:latin typeface="Andale Mono" panose="020B0509000000000004" pitchFamily="49" charset="0"/>
              </a:rPr>
              <a:t>eoc</a:t>
            </a:r>
            <a:r>
              <a:rPr lang="en-GB" sz="1500" dirty="0">
                <a:effectLst/>
                <a:latin typeface="Andale Mono" panose="020B0509000000000004" pitchFamily="49" charset="0"/>
              </a:rPr>
              <a:t>:</a:t>
            </a:r>
            <a:br>
              <a:rPr lang="en-GB" sz="1500" dirty="0">
                <a:effectLst/>
                <a:latin typeface="Andale Mono" panose="020B0509000000000004" pitchFamily="49" charset="0"/>
              </a:rPr>
            </a:br>
            <a:r>
              <a:rPr lang="en-GB" sz="1500" dirty="0">
                <a:effectLst/>
                <a:latin typeface="Andale Mono" panose="020B0509000000000004" pitchFamily="49" charset="0"/>
              </a:rPr>
              <a:t>  j 0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 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980AE08-6426-D599-8A82-634059876CB1}"/>
              </a:ext>
            </a:extLst>
          </p:cNvPr>
          <p:cNvSpPr txBox="1">
            <a:spLocks/>
          </p:cNvSpPr>
          <p:nvPr/>
        </p:nvSpPr>
        <p:spPr>
          <a:xfrm>
            <a:off x="6947452" y="1825625"/>
            <a:ext cx="4949687" cy="4351338"/>
          </a:xfrm>
          <a:prstGeom prst="rect">
            <a:avLst/>
          </a:prstGeom>
          <a:noFill/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latin typeface="Andale Mono" panose="020B0509000000000004" pitchFamily="49" charset="0"/>
              </a:rPr>
              <a:t>OUTPUT_ARCH("</a:t>
            </a:r>
            <a:r>
              <a:rPr lang="en-GB" sz="1200" dirty="0" err="1">
                <a:latin typeface="Andale Mono" panose="020B0509000000000004" pitchFamily="49" charset="0"/>
              </a:rPr>
              <a:t>riscv</a:t>
            </a:r>
            <a:r>
              <a:rPr lang="en-GB" sz="1200" dirty="0">
                <a:latin typeface="Andale Mono" panose="020B0509000000000004" pitchFamily="49" charset="0"/>
              </a:rPr>
              <a:t>")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ENTRY(_start)</a:t>
            </a:r>
            <a:br>
              <a:rPr lang="en-GB" sz="1200" dirty="0">
                <a:latin typeface="Andale Mono" panose="020B0509000000000004" pitchFamily="49" charset="0"/>
              </a:rPr>
            </a:b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MEMORY {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RAM (</a:t>
            </a:r>
            <a:r>
              <a:rPr lang="en-GB" sz="1200" dirty="0" err="1">
                <a:latin typeface="Andale Mono" panose="020B0509000000000004" pitchFamily="49" charset="0"/>
              </a:rPr>
              <a:t>rwx</a:t>
            </a:r>
            <a:r>
              <a:rPr lang="en-GB" sz="1200" dirty="0">
                <a:latin typeface="Andale Mono" panose="020B0509000000000004" pitchFamily="49" charset="0"/>
              </a:rPr>
              <a:t>) : ORIGIN = 0x0008, LENGTH = 6K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}</a:t>
            </a:r>
            <a:br>
              <a:rPr lang="en-GB" sz="1200" dirty="0">
                <a:latin typeface="Andale Mono" panose="020B0509000000000004" pitchFamily="49" charset="0"/>
              </a:rPr>
            </a:b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SECTIONS {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.text :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{ 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    *(.</a:t>
            </a:r>
            <a:r>
              <a:rPr lang="en-GB" sz="1200" dirty="0" err="1">
                <a:latin typeface="Andale Mono" panose="020B0509000000000004" pitchFamily="49" charset="0"/>
              </a:rPr>
              <a:t>text.startup</a:t>
            </a:r>
            <a:r>
              <a:rPr lang="en-GB" sz="1200" dirty="0">
                <a:latin typeface="Andale Mono" panose="020B0509000000000004" pitchFamily="49" charset="0"/>
              </a:rPr>
              <a:t>); 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    *(.text); 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    *(.text.*) 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} &gt; RAM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.</a:t>
            </a:r>
            <a:r>
              <a:rPr lang="en-GB" sz="1200" dirty="0" err="1">
                <a:latin typeface="Andale Mono" panose="020B0509000000000004" pitchFamily="49" charset="0"/>
              </a:rPr>
              <a:t>bss</a:t>
            </a:r>
            <a:r>
              <a:rPr lang="en-GB" sz="1200" dirty="0">
                <a:latin typeface="Andale Mono" panose="020B0509000000000004" pitchFamily="49" charset="0"/>
              </a:rPr>
              <a:t> : { *(.</a:t>
            </a:r>
            <a:r>
              <a:rPr lang="en-GB" sz="1200" dirty="0" err="1">
                <a:latin typeface="Andale Mono" panose="020B0509000000000004" pitchFamily="49" charset="0"/>
              </a:rPr>
              <a:t>bss</a:t>
            </a:r>
            <a:r>
              <a:rPr lang="en-GB" sz="1200" dirty="0">
                <a:latin typeface="Andale Mono" panose="020B0509000000000004" pitchFamily="49" charset="0"/>
              </a:rPr>
              <a:t>); *(.</a:t>
            </a:r>
            <a:r>
              <a:rPr lang="en-GB" sz="1200" dirty="0" err="1">
                <a:latin typeface="Andale Mono" panose="020B0509000000000004" pitchFamily="49" charset="0"/>
              </a:rPr>
              <a:t>bss</a:t>
            </a:r>
            <a:r>
              <a:rPr lang="en-GB" sz="1200" dirty="0">
                <a:latin typeface="Andale Mono" panose="020B0509000000000004" pitchFamily="49" charset="0"/>
              </a:rPr>
              <a:t>.*) } &gt; RAM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.data : { *(.data); *(.data.*) } &gt; RAM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.</a:t>
            </a:r>
            <a:r>
              <a:rPr lang="en-GB" sz="1200" dirty="0" err="1">
                <a:latin typeface="Andale Mono" panose="020B0509000000000004" pitchFamily="49" charset="0"/>
              </a:rPr>
              <a:t>rodata</a:t>
            </a:r>
            <a:r>
              <a:rPr lang="en-GB" sz="1200" dirty="0">
                <a:latin typeface="Andale Mono" panose="020B0509000000000004" pitchFamily="49" charset="0"/>
              </a:rPr>
              <a:t> : { *(.</a:t>
            </a:r>
            <a:r>
              <a:rPr lang="en-GB" sz="1200" dirty="0" err="1">
                <a:latin typeface="Andale Mono" panose="020B0509000000000004" pitchFamily="49" charset="0"/>
              </a:rPr>
              <a:t>rodata</a:t>
            </a:r>
            <a:r>
              <a:rPr lang="en-GB" sz="1200" dirty="0">
                <a:latin typeface="Andale Mono" panose="020B0509000000000004" pitchFamily="49" charset="0"/>
              </a:rPr>
              <a:t>); *(.</a:t>
            </a:r>
            <a:r>
              <a:rPr lang="en-GB" sz="1200" dirty="0" err="1">
                <a:latin typeface="Andale Mono" panose="020B0509000000000004" pitchFamily="49" charset="0"/>
              </a:rPr>
              <a:t>rodata</a:t>
            </a:r>
            <a:r>
              <a:rPr lang="en-GB" sz="1200" dirty="0">
                <a:latin typeface="Andale Mono" panose="020B0509000000000004" pitchFamily="49" charset="0"/>
              </a:rPr>
              <a:t>.*) } &gt; RAM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PROVIDE(__</a:t>
            </a:r>
            <a:r>
              <a:rPr lang="en-GB" sz="1200" dirty="0" err="1">
                <a:latin typeface="Andale Mono" panose="020B0509000000000004" pitchFamily="49" charset="0"/>
              </a:rPr>
              <a:t>global_pointer</a:t>
            </a:r>
            <a:r>
              <a:rPr lang="en-GB" sz="1200" dirty="0">
                <a:latin typeface="Andale Mono" panose="020B0509000000000004" pitchFamily="49" charset="0"/>
              </a:rPr>
              <a:t>$ = ORIGIN(RAM) + 0x800);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  PROVIDE(__</a:t>
            </a:r>
            <a:r>
              <a:rPr lang="en-GB" sz="1200" dirty="0" err="1">
                <a:latin typeface="Andale Mono" panose="020B0509000000000004" pitchFamily="49" charset="0"/>
              </a:rPr>
              <a:t>stack_top</a:t>
            </a:r>
            <a:r>
              <a:rPr lang="en-GB" sz="1200" dirty="0">
                <a:latin typeface="Andale Mono" panose="020B0509000000000004" pitchFamily="49" charset="0"/>
              </a:rPr>
              <a:t> = ORIGIN(RAM) + LENGTH(RAM));</a:t>
            </a:r>
            <a:br>
              <a:rPr lang="en-GB" sz="1200" dirty="0">
                <a:latin typeface="Andale Mono" panose="020B0509000000000004" pitchFamily="49" charset="0"/>
              </a:rPr>
            </a:br>
            <a:r>
              <a:rPr lang="en-GB" sz="1200" dirty="0">
                <a:latin typeface="Andale Mono" panose="020B05090000000000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672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8CD6-3179-5514-39AE-A552EDD4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06FE-3DB4-17EB-DF36-354148C2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Current Programs</a:t>
            </a:r>
            <a:endParaRPr lang="en-GB" dirty="0"/>
          </a:p>
          <a:p>
            <a:r>
              <a:rPr lang="en-GB" dirty="0"/>
              <a:t>Simple program which doubles a value and outputs it.</a:t>
            </a:r>
          </a:p>
          <a:p>
            <a:r>
              <a:rPr lang="en-GB" dirty="0"/>
              <a:t>Recursive and iterative Fibonacci algorithms</a:t>
            </a:r>
          </a:p>
          <a:p>
            <a:pPr marL="0" indent="0">
              <a:buNone/>
            </a:pPr>
            <a:r>
              <a:rPr lang="en-GB" b="1" dirty="0"/>
              <a:t>Plans</a:t>
            </a:r>
          </a:p>
          <a:p>
            <a:r>
              <a:rPr lang="en-GB" dirty="0"/>
              <a:t>Write more thorough benchmark programs to test different features. Plans include:</a:t>
            </a:r>
          </a:p>
          <a:p>
            <a:pPr lvl="1"/>
            <a:r>
              <a:rPr lang="en-GB" dirty="0"/>
              <a:t>Sorting algorithms (quick sort)</a:t>
            </a:r>
          </a:p>
          <a:p>
            <a:pPr lvl="1"/>
            <a:r>
              <a:rPr lang="en-GB" dirty="0"/>
              <a:t>For floating point implementations: raster renderer or a similar floating point heavy program</a:t>
            </a:r>
          </a:p>
          <a:p>
            <a:r>
              <a:rPr lang="en-GB" dirty="0"/>
              <a:t>Compare throughput between in order and out of order execution.</a:t>
            </a:r>
          </a:p>
          <a:p>
            <a:r>
              <a:rPr lang="en-GB" dirty="0"/>
              <a:t>Compare branch prediction strategies</a:t>
            </a:r>
          </a:p>
          <a:p>
            <a:r>
              <a:rPr lang="en-GB" dirty="0"/>
              <a:t>Compare how the number of duplicate execution units affect cycles per instruction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384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693</Words>
  <Application>Microsoft Macintosh PowerPoint</Application>
  <PresentationFormat>Widescreen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Andale Mono</vt:lpstr>
      <vt:lpstr>Aptos</vt:lpstr>
      <vt:lpstr>Aptos Display</vt:lpstr>
      <vt:lpstr>Arial</vt:lpstr>
      <vt:lpstr>Office Theme</vt:lpstr>
      <vt:lpstr>Advanced Computer Architecture - Interim</vt:lpstr>
      <vt:lpstr>Architecture Diagram</vt:lpstr>
      <vt:lpstr>Instruction Set Architecture</vt:lpstr>
      <vt:lpstr>Architecture Features</vt:lpstr>
      <vt:lpstr>Simulator Features</vt:lpstr>
      <vt:lpstr>Compilation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Parr</dc:creator>
  <cp:lastModifiedBy>Thomas Parr</cp:lastModifiedBy>
  <cp:revision>2</cp:revision>
  <dcterms:created xsi:type="dcterms:W3CDTF">2025-02-13T11:38:08Z</dcterms:created>
  <dcterms:modified xsi:type="dcterms:W3CDTF">2025-02-13T20:27:23Z</dcterms:modified>
</cp:coreProperties>
</file>